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6F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C9D6F5"/>
                </a:solidFill>
                <a:latin typeface="Calibri"/>
              </a:rPr>
              <a:t>Percent of mass reused or recycled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reuse and recycling rate</c:v>
                </c:pt>
              </c:strCache>
            </c:strRef>
          </c:tx>
          <c:spPr>
            <a:solidFill>
              <a:srgbClr val="E0603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60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60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C4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Malta 2023</c:v>
                  </c:pt>
                  <c:pt idx="1">
                    <c:v>Greece 2019</c:v>
                  </c:pt>
                  <c:pt idx="2">
                    <c:v>EU 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62.8</c:v>
                </c:pt>
                <c:pt idx="1">
                  <c:v>69.7</c:v>
                </c:pt>
                <c:pt idx="2">
                  <c:v>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6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E2E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36"/>
        </a:solidFill>
        <a:ln>
          <a:noFill/>
        </a:ln>
        <a:effectLst/>
      </c:spPr>
    </c:plotArea>
    <c:plotVisOnly val="1"/>
    <c:dispBlanksAs val="span"/>
  </c:chart>
  <c:spPr>
    <a:solidFill>
      <a:srgbClr val="1414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D6F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C9D6F5"/>
                </a:solidFill>
                <a:latin typeface="Calibri"/>
              </a:rPr>
              <a:t>Predicted paths of the reported rate, percent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If measurement artifact (our claim)</c:v>
                </c:pt>
              </c:strCache>
            </c:strRef>
          </c:tx>
          <c:spPr>
            <a:solidFill>
              <a:srgbClr val="2BC4B0"/>
            </a:solidFill>
            <a:ln w="38100" cap="flat">
              <a:solidFill>
                <a:srgbClr val="2BC4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BC4B0"/>
              </a:solidFill>
              <a:ln w="9525" cap="flat">
                <a:solidFill>
                  <a:srgbClr val="2BC4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t-2</c:v>
                  </c:pt>
                  <c:pt idx="1">
                    <c:v>t-1</c:v>
                  </c:pt>
                  <c:pt idx="2">
                    <c:v>t (price spike)</c:v>
                  </c:pt>
                  <c:pt idx="3">
                    <c:v>t+1</c:v>
                  </c:pt>
                  <c:pt idx="4">
                    <c:v>t+2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84</c:v>
                </c:pt>
                <c:pt idx="2">
                  <c:v>66</c:v>
                </c:pt>
                <c:pt idx="3">
                  <c:v>99</c:v>
                </c:pt>
                <c:pt idx="4">
                  <c:v>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If a real behavioral effect</c:v>
                </c:pt>
              </c:strCache>
            </c:strRef>
          </c:tx>
          <c:spPr>
            <a:solidFill>
              <a:srgbClr val="E0603C"/>
            </a:solidFill>
            <a:ln w="38100" cap="flat">
              <a:solidFill>
                <a:srgbClr val="E060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603C"/>
              </a:solidFill>
              <a:ln w="9525" cap="flat">
                <a:solidFill>
                  <a:srgbClr val="E060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t-2</c:v>
                  </c:pt>
                  <c:pt idx="1">
                    <c:v>t-1</c:v>
                  </c:pt>
                  <c:pt idx="2">
                    <c:v>t (price spike)</c:v>
                  </c:pt>
                  <c:pt idx="3">
                    <c:v>t+1</c:v>
                  </c:pt>
                  <c:pt idx="4">
                    <c:v>t+2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</c:v>
                </c:pt>
                <c:pt idx="1">
                  <c:v>84</c:v>
                </c:pt>
                <c:pt idx="2">
                  <c:v>66</c:v>
                </c:pt>
                <c:pt idx="3">
                  <c:v>68</c:v>
                </c:pt>
                <c:pt idx="4">
                  <c:v>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6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55"/>
        </c:scaling>
        <c:delete val="0"/>
        <c:axPos val="l"/>
        <c:majorGridlines>
          <c:spPr>
            <a:ln w="12700" cap="flat">
              <a:solidFill>
                <a:srgbClr val="2E2E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3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6F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41436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decision brief for the team, not the assignment itself. The ask is a go or no-go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the verdict. Price does cause the number to move. It does not cause recycling to change. That distinction is the whole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values are real. Everything else in the deck is method, not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challenges the argument, this slide is the answer. Physical recycling is unchanged; only the accounting period shifts.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word illustrative out loud. Never let this chart be mistaken for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5 of the assignment asks for specificity. Naming the exposure measure and the exact t+1 regression is what earns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group prefers to argue for causality, Singapore is the fallback and this case becomes the ruled-out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on the risks. Open to being argued out of it if someone has a stronger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Scrap Price Case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B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should be our causal assignment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that is real in the statistics and absent in the physical world. We argue it is not causal, and we can prove ourselves wrong if we are.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ELV Recycling Gap  |  NYU Stern MSBAi Capstone 2027  |  Internal team decision brief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52560" y="173736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235440" y="2788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reuse and recycling target, by mass, in force since 2015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relationship we would examine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12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 metal price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965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Comext HS 7204 export unit value, EU aggregate. CFR Turkey is subscription 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91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reuse and recycling rate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0449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env_waselvt, country and year, 2005 to 2023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59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co-movement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1239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years show depressed reported rates, which rebound the year after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38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causal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520293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moves the statistic through reporting timing, not through how vehicles are recycled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WE HOLD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documented anomalies, already in our validated data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020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Eurostat says about them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402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drops are attributed to operators holding hulks in storage while waiting for better resale pricing.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Malta sits more than 20 points below target in 2023. Greece is 15 points below in 2019.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drop coincided with a change in dismantling technology or facility count, which we can now check.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343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validated these values ourselves: 4,305 rows in env_waselvt and 30,268 in env_waselv, API pull diffed against the manual download with zero differences on shared fields.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env_waselvt, vintage 28 April 2026. Target per ELV Directive 2000/53/EC, applicable from 2015.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moves because the denominator moves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38528"/>
            <a:ext cx="502920" cy="502920"/>
          </a:xfrm>
          <a:prstGeom prst="ellipse">
            <a:avLst/>
          </a:prstGeom>
          <a:solidFill>
            <a:srgbClr val="2BC4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116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rises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expect a better return on hulks held a few months longer.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938528"/>
            <a:ext cx="502920" cy="502920"/>
          </a:xfrm>
          <a:prstGeom prst="ellipse">
            <a:avLst/>
          </a:prstGeom>
          <a:solidFill>
            <a:srgbClr val="2BC4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20116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Vehicles are stored, not processed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hulk still exists. It has simply not entered the processing count yet.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938528"/>
            <a:ext cx="502920" cy="502920"/>
          </a:xfrm>
          <a:prstGeom prst="ellipse">
            <a:avLst/>
          </a:prstGeom>
          <a:solidFill>
            <a:srgbClr val="2BC4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20116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tonnage falls this year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is recovered mass over processed mass. Less enters the denominator on schedule.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1938528"/>
            <a:ext cx="502920" cy="502920"/>
          </a:xfrm>
          <a:prstGeom prst="ellipse">
            <a:avLst/>
          </a:prstGeom>
          <a:solidFill>
            <a:srgbClr val="2BC4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08592" y="20116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rate rebounds next year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tonnage is processed and reported. Recovery per vehicle never changed.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956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conservation is the crux. A vehicle parked in a yard in December is recycled the same way in March. Tonnage is deferred across a reporting boundary, not destroyed, diverted, or treated differently.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that can prove us wrong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divergence at t+1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2860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the deferred tonnage lands, the rate overshoots, and the two-year cumulative effect is near zero.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Behavioral: the level shift persists, because something about recycling itself changed.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coefficient separates them. Regress the rate at t+1 on the price shock at t and read the sign.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These are the two competing predictions, not estimated results. The two paths are identical before the spike, so they overlap on the left of the chart.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FROM CLASS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would build the argument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91056"/>
            <a:ext cx="347472" cy="347472"/>
          </a:xfrm>
          <a:prstGeom prst="ellipse">
            <a:avLst/>
          </a:prstGeom>
          <a:solidFill>
            <a:srgbClr val="2E2E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3677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361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fixed effects with differential exposure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544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and year effects absorb a common price shock, so identification comes from price interacted with exposure. Exposure is operator concentration; the price series must be EU-aggregate.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347472" cy="347472"/>
          </a:xfrm>
          <a:prstGeom prst="ellipse">
            <a:avLst/>
          </a:prstGeom>
          <a:solidFill>
            <a:srgbClr val="2BC4B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4414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40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reversion test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35915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centerpiece. Rate at t+1 on the price shock at t. The artifact story predicts a sign flip and a near-zero two-year cumulative effect.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347472" cy="347472"/>
          </a:xfrm>
          <a:prstGeom prst="ellipse">
            <a:avLst/>
          </a:prstGeom>
          <a:solidFill>
            <a:srgbClr val="2E2E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2461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45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study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16382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and lags around price spikes to show no pre-trend and full recovery within one to two periods.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005072"/>
            <a:ext cx="347472" cy="347472"/>
          </a:xfrm>
          <a:prstGeom prst="ellipse">
            <a:avLst/>
          </a:prstGeom>
          <a:solidFill>
            <a:srgbClr val="2E2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5079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Numerator and denominator decomposition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968496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env_waselv tonnages, show the movement is in what entered processing, not in recovery share per unit.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809744"/>
            <a:ext cx="347472" cy="347472"/>
          </a:xfrm>
          <a:prstGeom prst="ellipse">
            <a:avLst/>
          </a:prstGeom>
          <a:solidFill>
            <a:srgbClr val="2E2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85546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Placebo on unconcentrated markets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77316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null where operators are many. Permitted storage capacity is not harmonised in any EU source, so concentration stands in for 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instrumental variables: scrap price looks like a natural instrument for recycling behavior and fails the exclusion restriction, for exactly the reason this case argues. That failure is the finding.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RULED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considered and set aside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directive becomes a regulation, July 2026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89280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post-treatment outcome data exists yet, and the change arrives as a package of provisions, so no single one is identified.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278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Singapore exports lower domestic recycling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326440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mechanism, but trade diversion to Indonesia, Brunei and Malaysia weakens the first stage, and the origin attribution gap means importer-side data cannot confirm the diversion.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5994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 price as an instrument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463600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exclusion restriction through the reporting channel. Rejecting it is the argument, not a dead end.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rejected candidates is worth points on its own. It demonstrates the choice was made on identification grounds rather than convenience.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disclose, and what we need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openly, not buried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stockpiling explanation comes from Eurostat metadata. It is what we test, not what we already own.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is the last published year, so Malta's rebound is an out-of-sample prediction. Greece 2019 can be tested in full.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variation is narrower than 27 by 19, and storage slack cannot be measured directly, so concentration proxies it.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series is a derived export unit value, not a true price.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still wins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candidate we can prove wrong with data already in elv_bronze.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anomalies are documented by the regulator we are evaluating, our strongest evidence category.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fits the deadline: one panel, one external join, now sourced and verified.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extends the capstone thesis. Data stops at the border, and the compliance number can move without the physical outcome moving.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1F52"/>
          </a:solidFill>
          <a:ln w="12700">
            <a:solidFill>
              <a:srgbClr val="2E2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Ask: a go or no-go this week, and a call on EU-aggregate versus leave-one-out.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2026-09-19T02:58:31Z</dcterms:created>
  <dcterms:modified xsi:type="dcterms:W3CDTF">2026-09-19T02:58:31Z</dcterms:modified>
</cp:coreProperties>
</file>